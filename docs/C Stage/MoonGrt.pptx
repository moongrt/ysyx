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6" r:id="rId2"/>
    <p:sldId id="275" r:id="rId3"/>
    <p:sldId id="290" r:id="rId4"/>
    <p:sldId id="284" r:id="rId5"/>
    <p:sldId id="292" r:id="rId6"/>
    <p:sldId id="282" r:id="rId7"/>
    <p:sldId id="285" r:id="rId8"/>
    <p:sldId id="287" r:id="rId9"/>
    <p:sldId id="288" r:id="rId10"/>
    <p:sldId id="291" r:id="rId11"/>
    <p:sldId id="286" r:id="rId12"/>
    <p:sldId id="293" r:id="rId13"/>
    <p:sldId id="294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52816"/>
    <a:srgbClr val="D4EBE3"/>
    <a:srgbClr val="538B4B"/>
    <a:srgbClr val="E8FAE5"/>
    <a:srgbClr val="9DA953"/>
    <a:srgbClr val="285023"/>
    <a:srgbClr val="FFD1CD"/>
    <a:srgbClr val="FFE3E1"/>
    <a:srgbClr val="096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7" autoAdjust="0"/>
    <p:restoredTop sz="87615" autoAdjust="0"/>
  </p:normalViewPr>
  <p:slideViewPr>
    <p:cSldViewPr snapToGrid="0">
      <p:cViewPr varScale="1">
        <p:scale>
          <a:sx n="75" d="100"/>
          <a:sy n="75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3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63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3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3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2026/3/21</a:t>
            </a:fld>
            <a:endParaRPr lang="zh-CN" altLang="en-US" dirty="0"/>
          </a:p>
        </p:txBody>
      </p:sp>
      <p:sp>
        <p:nvSpPr>
          <p:cNvPr id="104863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104863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4863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3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各位助教老师好，现在我来开始我的</a:t>
            </a:r>
            <a:r>
              <a:rPr lang="en-US" altLang="zh-CN" dirty="0">
                <a:sym typeface="+mn-ea"/>
              </a:rPr>
              <a:t> C </a:t>
            </a:r>
            <a:r>
              <a:rPr lang="zh-CN" altLang="en-US" dirty="0">
                <a:sym typeface="+mn-ea"/>
              </a:rPr>
              <a:t>阶段答辩</a:t>
            </a:r>
            <a:endParaRPr lang="en-US" altLang="zh-CN" dirty="0">
              <a:sym typeface="+mn-ea"/>
            </a:endParaRPr>
          </a:p>
        </p:txBody>
      </p:sp>
      <p:sp>
        <p:nvSpPr>
          <p:cNvPr id="104859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90AC-3C65-0029-0362-C5749108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953F418B-F1BC-C429-32B0-5D634979C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2A7BEF19-EEDA-FBBA-ADC0-091DE535F4C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439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57AE-4EFB-304D-7F45-99BD9000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76447281-11AF-0D10-0102-F282BA0D8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FF825CFC-4F79-6B33-85E8-FE358B82001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760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74BA-EFE2-B21F-A912-D66C818B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62117B25-F402-1CC2-391A-9A49AAA11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CB09BFC9-A3F4-7A1D-8E43-808CDF75AF1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695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829C-7637-228C-D931-F80CDB5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E4029789-6781-3F8C-44EC-F3218C877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50365FBE-F44D-19A8-7F7F-E8BE64970EB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3700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1DB02-9F25-30D7-5BE9-07EC1FBE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74C2CAD0-CAE1-4929-277A-A896D344F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88A1D641-6C4A-63DF-BCF7-AB27497FC45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891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CDE0-42C3-168B-6FD5-249B185A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F713E5E4-4A76-B3B4-3DA7-53C8908AC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64CE3D99-C8AB-089C-E043-EF7C6EC0BB2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750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8C32-C255-A766-49CC-AE7C3ACF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42DFF0A8-F462-AD3B-6E2B-2F1A7D60F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ADA54193-C3CF-C717-CC07-BD09A54BE9B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690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BCBE-F057-CD99-AEA2-6EF60C9F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42879F98-ABFE-B5AD-9076-B8CD375D6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66D75B1E-92F7-AB23-45D2-073A33C3E96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2269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2C4E-C506-0392-808D-B9AA33F0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幻灯片图像占位符 1">
            <a:extLst>
              <a:ext uri="{FF2B5EF4-FFF2-40B4-BE49-F238E27FC236}">
                <a16:creationId xmlns:a16="http://schemas.microsoft.com/office/drawing/2014/main" id="{01D8341B-2764-4269-EC05-23D076C25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9" name="文本占位符 2">
            <a:extLst>
              <a:ext uri="{FF2B5EF4-FFF2-40B4-BE49-F238E27FC236}">
                <a16:creationId xmlns:a16="http://schemas.microsoft.com/office/drawing/2014/main" id="{A9A0D2B4-ADA1-8669-5E2F-BBD790E472A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520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谢谢大家！</a:t>
            </a:r>
          </a:p>
        </p:txBody>
      </p:sp>
      <p:sp>
        <p:nvSpPr>
          <p:cNvPr id="104861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58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048592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4859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59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9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59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38910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2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62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119933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6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6027335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10485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powerpoint template design by DAJU_PPT正版来源小红书大橘PPT微信DAJU_PPT请勿抄袭搬运！盗版必究！"/>
          <p:cNvSpPr txBox="1"/>
          <p:nvPr/>
        </p:nvSpPr>
        <p:spPr>
          <a:xfrm>
            <a:off x="3806190" y="4141148"/>
            <a:ext cx="3657600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学校：南洋理工大学</a:t>
            </a:r>
          </a:p>
        </p:txBody>
      </p:sp>
      <p:sp>
        <p:nvSpPr>
          <p:cNvPr id="1048583" name="powerpoint template design by DAJU_PPT正版来源小红书大橘PPT微信DAJU_PPT请勿抄袭搬运！盗版必究！"/>
          <p:cNvSpPr txBox="1"/>
          <p:nvPr/>
        </p:nvSpPr>
        <p:spPr>
          <a:xfrm>
            <a:off x="3806190" y="3599424"/>
            <a:ext cx="3657600" cy="3916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姓名：廖月伟</a:t>
            </a:r>
          </a:p>
        </p:txBody>
      </p:sp>
      <p:sp>
        <p:nvSpPr>
          <p:cNvPr id="1048584" name="powerpoint template design by DAJU_PPT正版来源小红书大橘PPT微信DAJU_PPT请勿抄袭搬运！盗版必究！"/>
          <p:cNvSpPr txBox="1"/>
          <p:nvPr/>
        </p:nvSpPr>
        <p:spPr>
          <a:xfrm>
            <a:off x="-304800" y="2420620"/>
            <a:ext cx="11108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 algn="ctr"/>
            <a:r>
              <a:rPr lang="en-US" altLang="zh-CN" sz="3200" b="1" spc="-150" dirty="0">
                <a:cs typeface="+mn-ea"/>
                <a:sym typeface="+mn-lt"/>
              </a:rPr>
              <a:t>——</a:t>
            </a:r>
            <a:r>
              <a:rPr lang="zh-CN" altLang="en-US" sz="4000" b="1" spc="300" dirty="0">
                <a:cs typeface="+mn-ea"/>
                <a:sym typeface="+mn-lt"/>
              </a:rPr>
              <a:t> 一生一芯</a:t>
            </a:r>
            <a:r>
              <a:rPr lang="en-US" altLang="zh-CN" sz="4000" b="1" spc="300" dirty="0">
                <a:cs typeface="+mn-ea"/>
                <a:sym typeface="+mn-lt"/>
              </a:rPr>
              <a:t>C</a:t>
            </a:r>
            <a:r>
              <a:rPr lang="zh-CN" altLang="en-US" sz="4000" b="1" spc="300" dirty="0">
                <a:cs typeface="+mn-ea"/>
                <a:sym typeface="+mn-lt"/>
              </a:rPr>
              <a:t>阶段结业答辩</a:t>
            </a:r>
            <a:r>
              <a:rPr lang="en-US" altLang="zh-CN" sz="4000" b="1" spc="300" dirty="0">
                <a:cs typeface="+mn-ea"/>
                <a:sym typeface="+mn-lt"/>
              </a:rPr>
              <a:t> </a:t>
            </a:r>
            <a:r>
              <a:rPr lang="en-US" altLang="zh-CN" sz="3200" b="1" spc="-150" dirty="0">
                <a:cs typeface="+mn-ea"/>
                <a:sym typeface="+mn-lt"/>
              </a:rPr>
              <a:t>——</a:t>
            </a:r>
          </a:p>
        </p:txBody>
      </p:sp>
      <p:sp>
        <p:nvSpPr>
          <p:cNvPr id="1048585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</a:p>
        </p:txBody>
      </p:sp>
      <p:sp>
        <p:nvSpPr>
          <p:cNvPr id="1048586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7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55" y="312420"/>
            <a:ext cx="2211705" cy="20421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</a:rPr>
              <a:t>       功能演示</a:t>
            </a: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/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/>
          <p:cNvCxnSpPr/>
          <p:nvPr userDrawn="1"/>
        </p:nvCxnSpPr>
        <p:spPr>
          <a:xfrm>
            <a:off x="744110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/>
          <p:cNvSpPr>
            <a:spLocks noGrp="1"/>
          </p:cNvSpPr>
          <p:nvPr>
            <p:ph type="title"/>
          </p:nvPr>
        </p:nvSpPr>
        <p:spPr>
          <a:xfrm>
            <a:off x="442913" y="873125"/>
            <a:ext cx="4869867" cy="405102"/>
          </a:xfrm>
        </p:spPr>
        <p:txBody>
          <a:bodyPr/>
          <a:lstStyle/>
          <a:p>
            <a:r>
              <a:rPr lang="en-US" altLang="zh-CN" dirty="0"/>
              <a:t>NEMU &amp;</a:t>
            </a:r>
            <a:r>
              <a:rPr lang="zh-CN" altLang="en-US" dirty="0"/>
              <a:t> </a:t>
            </a:r>
            <a:r>
              <a:rPr lang="en-US" altLang="zh-CN" dirty="0"/>
              <a:t>NPC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/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/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65498B3-64E3-39B7-A4C4-50D79F72BC03}"/>
              </a:ext>
            </a:extLst>
          </p:cNvPr>
          <p:cNvSpPr txBox="1">
            <a:spLocks/>
          </p:cNvSpPr>
          <p:nvPr/>
        </p:nvSpPr>
        <p:spPr>
          <a:xfrm>
            <a:off x="442913" y="1624965"/>
            <a:ext cx="717708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个人特色展示</a:t>
            </a:r>
            <a:r>
              <a:rPr lang="en-US" altLang="zh-CN" dirty="0">
                <a:solidFill>
                  <a:schemeClr val="tx1"/>
                </a:solidFill>
              </a:rPr>
              <a:t>    MEMU = NEMU + NPC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3DDD5135-07DC-F0A1-7594-3691F5E22DB4}"/>
              </a:ext>
            </a:extLst>
          </p:cNvPr>
          <p:cNvSpPr txBox="1">
            <a:spLocks/>
          </p:cNvSpPr>
          <p:nvPr/>
        </p:nvSpPr>
        <p:spPr>
          <a:xfrm>
            <a:off x="442914" y="2246954"/>
            <a:ext cx="5835967" cy="3220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思路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r>
              <a:rPr lang="en-US" altLang="zh-CN" sz="1800" b="0" dirty="0">
                <a:solidFill>
                  <a:schemeClr val="tx1"/>
                </a:solidFill>
              </a:rPr>
              <a:t>NEMU </a:t>
            </a:r>
            <a:r>
              <a:rPr lang="en-US" altLang="zh-CN" sz="1800" b="0" dirty="0" err="1">
                <a:solidFill>
                  <a:schemeClr val="tx1"/>
                </a:solidFill>
              </a:rPr>
              <a:t>decode_exec</a:t>
            </a:r>
            <a:r>
              <a:rPr lang="en-US" altLang="zh-CN" sz="1800" b="0" dirty="0">
                <a:solidFill>
                  <a:schemeClr val="tx1"/>
                </a:solidFill>
              </a:rPr>
              <a:t> ≈ NPC </a:t>
            </a:r>
            <a:r>
              <a:rPr lang="en-US" altLang="zh-CN" sz="1800" b="0" dirty="0" err="1">
                <a:solidFill>
                  <a:schemeClr val="tx1"/>
                </a:solidFill>
              </a:rPr>
              <a:t>rtl_step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0B1CB664-91EF-E3CA-B69A-36A18DC2920F}"/>
              </a:ext>
            </a:extLst>
          </p:cNvPr>
          <p:cNvSpPr txBox="1">
            <a:spLocks/>
          </p:cNvSpPr>
          <p:nvPr/>
        </p:nvSpPr>
        <p:spPr>
          <a:xfrm>
            <a:off x="442913" y="2713143"/>
            <a:ext cx="11169968" cy="2605704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spcAft>
                <a:spcPts val="600"/>
              </a:spcAft>
            </a:pPr>
            <a:r>
              <a:rPr lang="zh-CN" altLang="en-US" sz="1800" dirty="0">
                <a:solidFill>
                  <a:schemeClr val="tx1"/>
                </a:solidFill>
              </a:rPr>
              <a:t>实现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0" dirty="0">
                <a:solidFill>
                  <a:schemeClr val="tx1"/>
                </a:solidFill>
              </a:rPr>
              <a:t>    1. </a:t>
            </a:r>
            <a:r>
              <a:rPr lang="en-US" altLang="zh-CN" sz="1800" b="0" dirty="0" err="1">
                <a:solidFill>
                  <a:schemeClr val="tx1"/>
                </a:solidFill>
              </a:rPr>
              <a:t>Kconfig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添加 </a:t>
            </a:r>
            <a:r>
              <a:rPr lang="en-US" altLang="zh-CN" sz="1800" b="0" dirty="0">
                <a:solidFill>
                  <a:schemeClr val="tx1"/>
                </a:solidFill>
              </a:rPr>
              <a:t>NEMU/NPC </a:t>
            </a:r>
            <a:r>
              <a:rPr lang="zh-CN" altLang="en-US" sz="1800" b="0" dirty="0">
                <a:solidFill>
                  <a:schemeClr val="tx1"/>
                </a:solidFill>
              </a:rPr>
              <a:t>切换选项；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       </a:t>
            </a:r>
            <a:r>
              <a:rPr lang="en-US" altLang="zh-CN" sz="1800" b="0" dirty="0" err="1">
                <a:solidFill>
                  <a:schemeClr val="tx1"/>
                </a:solidFill>
              </a:rPr>
              <a:t>Makefile</a:t>
            </a:r>
            <a:r>
              <a:rPr lang="zh-CN" altLang="en-US" sz="1800" b="0" dirty="0">
                <a:solidFill>
                  <a:schemeClr val="tx1"/>
                </a:solidFill>
              </a:rPr>
              <a:t>：添加 </a:t>
            </a:r>
            <a:r>
              <a:rPr lang="en-US" altLang="zh-CN" sz="1800" b="0" dirty="0">
                <a:solidFill>
                  <a:schemeClr val="tx1"/>
                </a:solidFill>
              </a:rPr>
              <a:t>mill </a:t>
            </a:r>
            <a:r>
              <a:rPr lang="zh-CN" altLang="en-US" sz="1800" b="0" dirty="0">
                <a:solidFill>
                  <a:schemeClr val="tx1"/>
                </a:solidFill>
              </a:rPr>
              <a:t>编译 </a:t>
            </a:r>
            <a:r>
              <a:rPr lang="en-US" altLang="zh-CN" sz="1800" b="0" dirty="0">
                <a:solidFill>
                  <a:schemeClr val="tx1"/>
                </a:solidFill>
              </a:rPr>
              <a:t>chisel </a:t>
            </a:r>
            <a:r>
              <a:rPr lang="zh-CN" altLang="en-US" sz="1800" b="0" dirty="0">
                <a:solidFill>
                  <a:schemeClr val="tx1"/>
                </a:solidFill>
              </a:rPr>
              <a:t>到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en-US" altLang="zh-CN" sz="1800" b="0" dirty="0" err="1">
                <a:solidFill>
                  <a:schemeClr val="tx1"/>
                </a:solidFill>
              </a:rPr>
              <a:t>verilog</a:t>
            </a:r>
            <a:r>
              <a:rPr lang="zh-CN" altLang="en-US" sz="1800" b="0" dirty="0">
                <a:solidFill>
                  <a:schemeClr val="tx1"/>
                </a:solidFill>
              </a:rPr>
              <a:t>；</a:t>
            </a:r>
            <a:r>
              <a:rPr lang="en-US" altLang="zh-CN" sz="1800" b="0" dirty="0" err="1">
                <a:solidFill>
                  <a:schemeClr val="tx1"/>
                </a:solidFill>
              </a:rPr>
              <a:t>verilator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编译 </a:t>
            </a:r>
            <a:r>
              <a:rPr lang="en-US" altLang="zh-CN" sz="1800" b="0" dirty="0" err="1">
                <a:solidFill>
                  <a:schemeClr val="tx1"/>
                </a:solidFill>
              </a:rPr>
              <a:t>verilog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到 </a:t>
            </a:r>
            <a:r>
              <a:rPr lang="en-US" altLang="zh-CN" sz="1800" b="0" dirty="0" err="1">
                <a:solidFill>
                  <a:schemeClr val="tx1"/>
                </a:solidFill>
              </a:rPr>
              <a:t>cpp</a:t>
            </a:r>
            <a:r>
              <a:rPr lang="zh-CN" altLang="en-US" sz="1800" b="0" dirty="0">
                <a:solidFill>
                  <a:schemeClr val="tx1"/>
                </a:solidFill>
              </a:rPr>
              <a:t>；</a:t>
            </a:r>
            <a:r>
              <a:rPr lang="en-US" altLang="zh-CN" sz="1800" b="0" dirty="0" err="1">
                <a:solidFill>
                  <a:schemeClr val="tx1"/>
                </a:solidFill>
              </a:rPr>
              <a:t>gcc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生成静态库</a:t>
            </a:r>
            <a:endParaRPr lang="en-US" sz="1800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0" dirty="0">
                <a:solidFill>
                  <a:schemeClr val="tx1"/>
                </a:solidFill>
              </a:rPr>
              <a:t>    2. </a:t>
            </a:r>
            <a:r>
              <a:rPr lang="en-US" altLang="zh-CN" sz="1800" b="0" dirty="0">
                <a:solidFill>
                  <a:schemeClr val="tx1"/>
                </a:solidFill>
              </a:rPr>
              <a:t>abstract-machine</a:t>
            </a:r>
            <a:r>
              <a:rPr lang="zh-CN" altLang="en-US" sz="1800" b="0" dirty="0">
                <a:solidFill>
                  <a:schemeClr val="tx1"/>
                </a:solidFill>
              </a:rPr>
              <a:t>：几乎完全复制 </a:t>
            </a:r>
            <a:r>
              <a:rPr lang="en-US" altLang="zh-CN" sz="1800" b="0" dirty="0">
                <a:solidFill>
                  <a:schemeClr val="tx1"/>
                </a:solidFill>
              </a:rPr>
              <a:t>NEMU </a:t>
            </a:r>
            <a:r>
              <a:rPr lang="zh-CN" altLang="en-US" sz="1800" b="0" dirty="0">
                <a:solidFill>
                  <a:schemeClr val="tx1"/>
                </a:solidFill>
              </a:rPr>
              <a:t>的相关脚本 </a:t>
            </a:r>
            <a:r>
              <a:rPr lang="en-US" altLang="zh-CN" sz="1800" b="0" dirty="0">
                <a:solidFill>
                  <a:schemeClr val="tx1"/>
                </a:solidFill>
              </a:rPr>
              <a:t>-&gt; </a:t>
            </a:r>
            <a:r>
              <a:rPr lang="zh-CN" altLang="en-US" sz="1800" b="0" dirty="0">
                <a:solidFill>
                  <a:schemeClr val="tx1"/>
                </a:solidFill>
              </a:rPr>
              <a:t>软件支持，不关注硬件</a:t>
            </a:r>
            <a:endParaRPr lang="en-US" sz="1800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00" b="0" dirty="0">
                <a:solidFill>
                  <a:schemeClr val="tx1"/>
                </a:solidFill>
              </a:rPr>
              <a:t>    3. </a:t>
            </a:r>
            <a:r>
              <a:rPr lang="en-US" altLang="zh-CN" sz="1800" b="0" dirty="0">
                <a:solidFill>
                  <a:schemeClr val="tx1"/>
                </a:solidFill>
              </a:rPr>
              <a:t>mem/</a:t>
            </a:r>
            <a:r>
              <a:rPr lang="en-US" altLang="zh-CN" sz="1800" b="0" dirty="0" err="1">
                <a:solidFill>
                  <a:schemeClr val="tx1"/>
                </a:solidFill>
              </a:rPr>
              <a:t>mmio</a:t>
            </a:r>
            <a:r>
              <a:rPr lang="en-US" altLang="zh-CN" sz="1800" b="0" dirty="0">
                <a:solidFill>
                  <a:schemeClr val="tx1"/>
                </a:solidFill>
              </a:rPr>
              <a:t> read/write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r>
              <a:rPr lang="en-US" altLang="zh-CN" sz="1800" b="0" dirty="0">
                <a:solidFill>
                  <a:schemeClr val="tx1"/>
                </a:solidFill>
              </a:rPr>
              <a:t>NPC </a:t>
            </a:r>
            <a:r>
              <a:rPr lang="zh-CN" altLang="en-US" sz="1800" b="0" dirty="0">
                <a:solidFill>
                  <a:schemeClr val="tx1"/>
                </a:solidFill>
              </a:rPr>
              <a:t>的 </a:t>
            </a:r>
            <a:r>
              <a:rPr lang="en-US" altLang="zh-CN" sz="1800" b="0" dirty="0">
                <a:solidFill>
                  <a:schemeClr val="tx1"/>
                </a:solidFill>
              </a:rPr>
              <a:t>DPI </a:t>
            </a:r>
            <a:r>
              <a:rPr lang="zh-CN" altLang="en-US" sz="1800" b="0" dirty="0">
                <a:solidFill>
                  <a:schemeClr val="tx1"/>
                </a:solidFill>
              </a:rPr>
              <a:t>读写移植为 </a:t>
            </a:r>
            <a:r>
              <a:rPr lang="en-US" altLang="zh-CN" sz="1800" b="0" dirty="0">
                <a:solidFill>
                  <a:schemeClr val="tx1"/>
                </a:solidFill>
              </a:rPr>
              <a:t>NEMU </a:t>
            </a:r>
            <a:r>
              <a:rPr lang="zh-CN" altLang="en-US" sz="1800" b="0" dirty="0">
                <a:solidFill>
                  <a:schemeClr val="tx1"/>
                </a:solidFill>
              </a:rPr>
              <a:t>的 </a:t>
            </a:r>
            <a:r>
              <a:rPr lang="en-US" altLang="zh-CN" sz="1800" b="0" dirty="0" err="1">
                <a:solidFill>
                  <a:schemeClr val="tx1"/>
                </a:solidFill>
              </a:rPr>
              <a:t>pmem_write</a:t>
            </a:r>
            <a:r>
              <a:rPr lang="en-US" altLang="zh-CN" sz="1800" b="0" dirty="0">
                <a:solidFill>
                  <a:schemeClr val="tx1"/>
                </a:solidFill>
              </a:rPr>
              <a:t>/</a:t>
            </a:r>
            <a:r>
              <a:rPr lang="en-US" altLang="zh-CN" sz="1800" b="0" dirty="0" err="1">
                <a:solidFill>
                  <a:schemeClr val="tx1"/>
                </a:solidFill>
              </a:rPr>
              <a:t>mmio_write</a:t>
            </a:r>
            <a:endParaRPr lang="en-US" sz="1800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   4. </a:t>
            </a:r>
            <a:r>
              <a:rPr lang="en-US" altLang="zh-CN" sz="1800" b="0" dirty="0" err="1">
                <a:solidFill>
                  <a:schemeClr val="tx1"/>
                </a:solidFill>
              </a:rPr>
              <a:t>ebreak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r>
              <a:rPr lang="en-US" altLang="zh-CN" sz="1800" b="0" dirty="0">
                <a:solidFill>
                  <a:schemeClr val="tx1"/>
                </a:solidFill>
              </a:rPr>
              <a:t>NPC </a:t>
            </a:r>
            <a:r>
              <a:rPr lang="zh-CN" altLang="en-US" sz="1800" b="0" dirty="0">
                <a:solidFill>
                  <a:schemeClr val="tx1"/>
                </a:solidFill>
              </a:rPr>
              <a:t>的停止触发 </a:t>
            </a:r>
            <a:r>
              <a:rPr lang="en-US" altLang="zh-CN" sz="1800" b="0" dirty="0">
                <a:solidFill>
                  <a:schemeClr val="tx1"/>
                </a:solidFill>
              </a:rPr>
              <a:t>MEMUTRAP</a:t>
            </a:r>
          </a:p>
          <a:p>
            <a:pPr>
              <a:spcAft>
                <a:spcPts val="600"/>
              </a:spcAft>
            </a:pPr>
            <a:r>
              <a:rPr lang="en-US" sz="1800" b="0" dirty="0">
                <a:solidFill>
                  <a:schemeClr val="tx1"/>
                </a:solidFill>
              </a:rPr>
              <a:t>    5. </a:t>
            </a:r>
            <a:r>
              <a:rPr lang="en-US" altLang="zh-CN" sz="1800" b="0" dirty="0" err="1">
                <a:solidFill>
                  <a:schemeClr val="tx1"/>
                </a:solidFill>
              </a:rPr>
              <a:t>difftest</a:t>
            </a:r>
            <a:r>
              <a:rPr lang="zh-CN" altLang="en-US" sz="1800" b="0" dirty="0">
                <a:solidFill>
                  <a:schemeClr val="tx1"/>
                </a:solidFill>
              </a:rPr>
              <a:t>：</a:t>
            </a:r>
            <a:r>
              <a:rPr lang="en-US" altLang="zh-CN" sz="1800" b="0" dirty="0">
                <a:solidFill>
                  <a:schemeClr val="tx1"/>
                </a:solidFill>
              </a:rPr>
              <a:t>NPC </a:t>
            </a:r>
            <a:r>
              <a:rPr lang="zh-CN" altLang="en-US" sz="1800" b="0" dirty="0">
                <a:solidFill>
                  <a:schemeClr val="tx1"/>
                </a:solidFill>
              </a:rPr>
              <a:t>嵌入 </a:t>
            </a:r>
            <a:r>
              <a:rPr lang="en-US" altLang="zh-CN" sz="1800" b="0" dirty="0">
                <a:solidFill>
                  <a:schemeClr val="tx1"/>
                </a:solidFill>
              </a:rPr>
              <a:t>DPI </a:t>
            </a:r>
            <a:r>
              <a:rPr lang="zh-CN" altLang="en-US" sz="1800" b="0" dirty="0">
                <a:solidFill>
                  <a:schemeClr val="tx1"/>
                </a:solidFill>
              </a:rPr>
              <a:t>暴露内部信号数据，包括 </a:t>
            </a:r>
            <a:r>
              <a:rPr lang="en-US" altLang="zh-CN" sz="1800" b="0" dirty="0">
                <a:solidFill>
                  <a:schemeClr val="tx1"/>
                </a:solidFill>
              </a:rPr>
              <a:t>pc</a:t>
            </a:r>
            <a:r>
              <a:rPr lang="zh-CN" altLang="en-US" sz="1800" b="0" dirty="0">
                <a:solidFill>
                  <a:schemeClr val="tx1"/>
                </a:solidFill>
              </a:rPr>
              <a:t>、</a:t>
            </a:r>
            <a:r>
              <a:rPr lang="en-US" altLang="zh-CN" sz="1800" b="0" dirty="0" err="1">
                <a:solidFill>
                  <a:schemeClr val="tx1"/>
                </a:solidFill>
              </a:rPr>
              <a:t>gpr</a:t>
            </a:r>
            <a:r>
              <a:rPr lang="zh-CN" altLang="en-US" sz="1800" b="0" dirty="0">
                <a:solidFill>
                  <a:schemeClr val="tx1"/>
                </a:solidFill>
              </a:rPr>
              <a:t>、</a:t>
            </a:r>
            <a:r>
              <a:rPr lang="en-US" altLang="zh-CN" sz="1800" b="0" dirty="0" err="1">
                <a:solidFill>
                  <a:schemeClr val="tx1"/>
                </a:solidFill>
              </a:rPr>
              <a:t>csr</a:t>
            </a:r>
            <a:r>
              <a:rPr lang="en-US" altLang="zh-CN" sz="1800" b="0" dirty="0">
                <a:solidFill>
                  <a:schemeClr val="tx1"/>
                </a:solidFill>
              </a:rPr>
              <a:t>……</a:t>
            </a:r>
          </a:p>
          <a:p>
            <a:pPr>
              <a:spcAft>
                <a:spcPts val="600"/>
              </a:spcAft>
            </a:pPr>
            <a:r>
              <a:rPr lang="en-US" sz="1800" b="0" dirty="0">
                <a:solidFill>
                  <a:schemeClr val="tx1"/>
                </a:solidFill>
              </a:rPr>
              <a:t>    6. </a:t>
            </a:r>
            <a:r>
              <a:rPr lang="en-US" altLang="zh-CN" sz="1800" b="0" dirty="0">
                <a:solidFill>
                  <a:schemeClr val="tx1"/>
                </a:solidFill>
              </a:rPr>
              <a:t>trace</a:t>
            </a:r>
            <a:r>
              <a:rPr lang="zh-CN" altLang="en-US" sz="1800" b="0" dirty="0">
                <a:solidFill>
                  <a:schemeClr val="tx1"/>
                </a:solidFill>
              </a:rPr>
              <a:t>：主要移植 </a:t>
            </a:r>
            <a:r>
              <a:rPr lang="en-US" altLang="zh-CN" sz="1800" b="0" dirty="0">
                <a:solidFill>
                  <a:schemeClr val="tx1"/>
                </a:solidFill>
              </a:rPr>
              <a:t>NEMU </a:t>
            </a:r>
            <a:r>
              <a:rPr lang="en-US" altLang="zh-CN" sz="1800" b="0" dirty="0" err="1">
                <a:solidFill>
                  <a:schemeClr val="tx1"/>
                </a:solidFill>
              </a:rPr>
              <a:t>decode_exec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运行的 </a:t>
            </a:r>
            <a:r>
              <a:rPr lang="en-US" altLang="zh-CN" sz="1800" b="0" dirty="0" err="1">
                <a:solidFill>
                  <a:schemeClr val="tx1"/>
                </a:solidFill>
              </a:rPr>
              <a:t>ftrace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和 </a:t>
            </a:r>
            <a:r>
              <a:rPr lang="en-US" altLang="zh-CN" sz="1800" b="0" dirty="0" err="1">
                <a:solidFill>
                  <a:schemeClr val="tx1"/>
                </a:solidFill>
              </a:rPr>
              <a:t>etrace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2B509576-8210-EB19-BEE9-5D237654AA5C}"/>
              </a:ext>
            </a:extLst>
          </p:cNvPr>
          <p:cNvSpPr txBox="1">
            <a:spLocks/>
          </p:cNvSpPr>
          <p:nvPr/>
        </p:nvSpPr>
        <p:spPr>
          <a:xfrm>
            <a:off x="481891" y="5463034"/>
            <a:ext cx="5835967" cy="3220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MEMU </a:t>
            </a:r>
            <a:r>
              <a:rPr lang="zh-CN" altLang="en-US" sz="1800" dirty="0">
                <a:solidFill>
                  <a:schemeClr val="tx1"/>
                </a:solidFill>
              </a:rPr>
              <a:t>运行 </a:t>
            </a:r>
            <a:r>
              <a:rPr lang="en-US" altLang="zh-CN" sz="1800" dirty="0">
                <a:solidFill>
                  <a:schemeClr val="tx1"/>
                </a:solidFill>
              </a:rPr>
              <a:t>RT-Thread </a:t>
            </a:r>
            <a:r>
              <a:rPr lang="zh-CN" altLang="en-US" sz="1800" dirty="0">
                <a:solidFill>
                  <a:schemeClr val="tx1"/>
                </a:solidFill>
              </a:rPr>
              <a:t>展示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4A35-35B9-0158-4C30-D2EE7676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3312B9-DA07-1782-39EC-89EE684F2BB3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</a:rPr>
              <a:t>       功能演示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824B63B-ECC6-3F4D-6DAD-1ED76975AD2A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35F38E6-E3EB-704D-75CE-649EAD495121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7865B3C-CDF5-2291-DED2-A001D361AC7D}"/>
              </a:ext>
            </a:extLst>
          </p:cNvPr>
          <p:cNvCxnSpPr/>
          <p:nvPr userDrawn="1"/>
        </p:nvCxnSpPr>
        <p:spPr>
          <a:xfrm>
            <a:off x="744110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101CCCD8-262B-BCEA-FBD9-045D8B75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873125"/>
            <a:ext cx="4869867" cy="405102"/>
          </a:xfrm>
        </p:spPr>
        <p:txBody>
          <a:bodyPr/>
          <a:lstStyle/>
          <a:p>
            <a:r>
              <a:rPr lang="en-US" altLang="zh-CN" dirty="0"/>
              <a:t>NEMU &amp;</a:t>
            </a:r>
            <a:r>
              <a:rPr lang="zh-CN" altLang="en-US" dirty="0"/>
              <a:t> </a:t>
            </a:r>
            <a:r>
              <a:rPr lang="en-US" altLang="zh-CN" dirty="0"/>
              <a:t>NPC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2784243-0BC8-1203-6AE4-6B5F922DE1AA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5F261D6-8BD7-D481-F419-7333E102E7AC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BD35B7-6AE4-31BA-9112-AFCA39809BDF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1D7B556C-345F-20CC-BDC6-14854D554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25B5720-7AEC-FC8D-80BD-372DDE97F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8" y="1843002"/>
            <a:ext cx="5035769" cy="42854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6B9E64-EF1F-83DF-1B35-91FCE76DB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9" y="1600098"/>
            <a:ext cx="4869867" cy="477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6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/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/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/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/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/>
          <p:cNvCxnSpPr>
            <a:cxnSpLocks/>
          </p:cNvCxnSpPr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2">
            <a:extLst>
              <a:ext uri="{FF2B5EF4-FFF2-40B4-BE49-F238E27FC236}">
                <a16:creationId xmlns:a16="http://schemas.microsoft.com/office/drawing/2014/main" id="{B2DDE7E0-A888-B78F-F57D-4A506135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3225"/>
          </a:xfrm>
        </p:spPr>
        <p:txBody>
          <a:bodyPr wrap="square"/>
          <a:lstStyle/>
          <a:p>
            <a:r>
              <a:rPr lang="en-US" altLang="zh-CN" dirty="0"/>
              <a:t>Typing-Game</a:t>
            </a:r>
            <a:endParaRPr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6617C9-602D-87E6-7994-1685AC184DFE}"/>
              </a:ext>
            </a:extLst>
          </p:cNvPr>
          <p:cNvSpPr txBox="1"/>
          <p:nvPr/>
        </p:nvSpPr>
        <p:spPr>
          <a:xfrm>
            <a:off x="1096457" y="1812836"/>
            <a:ext cx="26764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struct character {</a:t>
            </a:r>
          </a:p>
          <a:p>
            <a:r>
              <a:rPr lang="en-US" altLang="zh-CN" dirty="0"/>
              <a:t>  char </a:t>
            </a:r>
            <a:r>
              <a:rPr lang="en-US" altLang="zh-CN" dirty="0" err="1"/>
              <a:t>ch</a:t>
            </a:r>
            <a:r>
              <a:rPr lang="en-US" altLang="zh-CN" dirty="0"/>
              <a:t>;   // </a:t>
            </a:r>
            <a:r>
              <a:rPr lang="zh-CN" altLang="en-US" dirty="0"/>
              <a:t>字符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int x, y,  // </a:t>
            </a:r>
            <a:r>
              <a:rPr lang="zh-CN" altLang="en-US" dirty="0"/>
              <a:t>屏幕位置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v,     // </a:t>
            </a:r>
            <a:r>
              <a:rPr lang="zh-CN" altLang="en-US" dirty="0"/>
              <a:t>垂直速度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t;     // </a:t>
            </a:r>
            <a:r>
              <a:rPr lang="zh-CN" altLang="en-US" dirty="0"/>
              <a:t>时间</a:t>
            </a:r>
          </a:p>
          <a:p>
            <a:r>
              <a:rPr lang="en-US" altLang="zh-CN" dirty="0"/>
              <a:t>} chars[NCHAR];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D53086-BD92-7693-A77C-839276205214}"/>
              </a:ext>
            </a:extLst>
          </p:cNvPr>
          <p:cNvSpPr txBox="1"/>
          <p:nvPr/>
        </p:nvSpPr>
        <p:spPr>
          <a:xfrm>
            <a:off x="1009387" y="3819159"/>
            <a:ext cx="47911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程序视角</a:t>
            </a:r>
            <a:r>
              <a:rPr lang="en-US" altLang="zh-CN" b="1" dirty="0"/>
              <a:t>:</a:t>
            </a:r>
          </a:p>
          <a:p>
            <a:r>
              <a:rPr lang="en-US" altLang="zh-CN" dirty="0" err="1"/>
              <a:t>init</a:t>
            </a:r>
            <a:r>
              <a:rPr lang="en-US" altLang="zh-CN" dirty="0"/>
              <a:t>(</a:t>
            </a:r>
            <a:r>
              <a:rPr lang="en-US" altLang="zh-CN" dirty="0" err="1"/>
              <a:t>ioe,gpu</a:t>
            </a:r>
            <a:r>
              <a:rPr lang="en-US" altLang="zh-CN" dirty="0"/>
              <a:t>) → while(1) </a:t>
            </a:r>
            <a:r>
              <a:rPr lang="zh-CN" altLang="en-US" dirty="0"/>
              <a:t>主循环</a:t>
            </a:r>
          </a:p>
          <a:p>
            <a:r>
              <a:rPr lang="zh-CN" altLang="en-US" dirty="0"/>
              <a:t>  → 计时 </a:t>
            </a:r>
            <a:r>
              <a:rPr lang="en-US" altLang="zh-CN" dirty="0"/>
              <a:t>(AM_TIMER_UPTIME)</a:t>
            </a:r>
          </a:p>
          <a:p>
            <a:r>
              <a:rPr lang="en-US" altLang="zh-CN" dirty="0"/>
              <a:t>  → </a:t>
            </a:r>
            <a:r>
              <a:rPr lang="en-US" altLang="zh-CN" dirty="0" err="1"/>
              <a:t>game_logic_update</a:t>
            </a:r>
            <a:r>
              <a:rPr lang="en-US" altLang="zh-CN" dirty="0"/>
              <a:t>() </a:t>
            </a:r>
            <a:r>
              <a:rPr lang="zh-CN" altLang="en-US" dirty="0"/>
              <a:t>更新字符状态</a:t>
            </a:r>
          </a:p>
          <a:p>
            <a:r>
              <a:rPr lang="zh-CN" altLang="en-US" dirty="0"/>
              <a:t>  → 读取键盘 </a:t>
            </a:r>
            <a:r>
              <a:rPr lang="en-US" altLang="zh-CN" dirty="0"/>
              <a:t>(AM_INPUT_KEYBRD)</a:t>
            </a:r>
          </a:p>
          <a:p>
            <a:r>
              <a:rPr lang="en-US" altLang="zh-CN" dirty="0"/>
              <a:t>  → </a:t>
            </a:r>
            <a:r>
              <a:rPr lang="en-US" altLang="zh-CN" dirty="0" err="1"/>
              <a:t>check_hit</a:t>
            </a:r>
            <a:r>
              <a:rPr lang="en-US" altLang="zh-CN" dirty="0"/>
              <a:t>() </a:t>
            </a:r>
            <a:r>
              <a:rPr lang="zh-CN" altLang="en-US" dirty="0"/>
              <a:t>判断是否击中</a:t>
            </a:r>
          </a:p>
          <a:p>
            <a:r>
              <a:rPr lang="zh-CN" altLang="en-US" dirty="0"/>
              <a:t>  → </a:t>
            </a:r>
            <a:r>
              <a:rPr lang="en-US" altLang="zh-CN" dirty="0"/>
              <a:t>render() </a:t>
            </a:r>
            <a:r>
              <a:rPr lang="zh-CN" altLang="en-US" dirty="0"/>
              <a:t>绘制屏幕</a:t>
            </a:r>
          </a:p>
          <a:p>
            <a:r>
              <a:rPr lang="zh-CN" altLang="en-US" dirty="0"/>
              <a:t>  → 循环执行，形成 </a:t>
            </a:r>
            <a:r>
              <a:rPr lang="en-US" altLang="zh-CN" dirty="0"/>
              <a:t>30 FPS </a:t>
            </a:r>
            <a:r>
              <a:rPr lang="zh-CN" altLang="en-US" dirty="0"/>
              <a:t>的打字下落游戏。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94E980-B2AE-ECD6-10E7-F8685FB3E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795" y="1341620"/>
            <a:ext cx="2565328" cy="50486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4D5413-A10B-5C27-906F-43C8E65804E8}"/>
              </a:ext>
            </a:extLst>
          </p:cNvPr>
          <p:cNvSpPr txBox="1"/>
          <p:nvPr/>
        </p:nvSpPr>
        <p:spPr>
          <a:xfrm>
            <a:off x="7997561" y="929053"/>
            <a:ext cx="1237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按键视角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43ED1D-2BA5-A1FE-6FAF-3CD297463A37}"/>
              </a:ext>
            </a:extLst>
          </p:cNvPr>
          <p:cNvSpPr txBox="1"/>
          <p:nvPr/>
        </p:nvSpPr>
        <p:spPr>
          <a:xfrm>
            <a:off x="443230" y="1443504"/>
            <a:ext cx="236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系统协同工作分析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5FB31-F715-97FE-8DFB-5643F052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EAC1FD5-3280-3A14-A92E-942FAF0E03A0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CEBA217-4A71-DCAD-44C6-DE99A0BD0497}"/>
              </a:ext>
            </a:extLst>
          </p:cNvPr>
          <p:cNvSpPr txBox="1"/>
          <p:nvPr userDrawn="1"/>
        </p:nvSpPr>
        <p:spPr>
          <a:xfrm>
            <a:off x="260350" y="86360"/>
            <a:ext cx="5848985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ea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B8481D3-9AA4-244E-BDD6-BAD7871E66CC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6AB7B7-E60F-9541-DBA7-7B2F29C4145E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A57501F-7BFD-9E8A-E6D3-C7A103BC43B5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B74B522-92CA-C239-628E-86C92610AF8D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614C3497-C8E5-1DE6-F85E-C93FD3E6B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07A73A6-0DD8-7249-B4C7-CB1FF116F0B3}"/>
              </a:ext>
            </a:extLst>
          </p:cNvPr>
          <p:cNvCxnSpPr>
            <a:cxnSpLocks/>
          </p:cNvCxnSpPr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2">
            <a:extLst>
              <a:ext uri="{FF2B5EF4-FFF2-40B4-BE49-F238E27FC236}">
                <a16:creationId xmlns:a16="http://schemas.microsoft.com/office/drawing/2014/main" id="{6C2DB09A-DC14-DCBB-9E9A-8A47CEC5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3225"/>
          </a:xfrm>
        </p:spPr>
        <p:txBody>
          <a:bodyPr wrap="square"/>
          <a:lstStyle/>
          <a:p>
            <a:r>
              <a:rPr lang="en-US" altLang="zh-CN" dirty="0"/>
              <a:t>Typing-Game</a:t>
            </a:r>
            <a:endParaRPr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7E3C47-7C55-B3F3-F28D-A1D1FDC8F62C}"/>
              </a:ext>
            </a:extLst>
          </p:cNvPr>
          <p:cNvSpPr txBox="1"/>
          <p:nvPr/>
        </p:nvSpPr>
        <p:spPr>
          <a:xfrm>
            <a:off x="443230" y="1443504"/>
            <a:ext cx="236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运行观察方法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824D17-462B-F9AC-CFCC-66B9B4D632CD}"/>
              </a:ext>
            </a:extLst>
          </p:cNvPr>
          <p:cNvSpPr txBox="1"/>
          <p:nvPr/>
        </p:nvSpPr>
        <p:spPr>
          <a:xfrm>
            <a:off x="447040" y="3429000"/>
            <a:ext cx="236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印象深刻的部分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793CE7-145D-AB7C-8B6C-CA768C026454}"/>
              </a:ext>
            </a:extLst>
          </p:cNvPr>
          <p:cNvSpPr txBox="1"/>
          <p:nvPr/>
        </p:nvSpPr>
        <p:spPr>
          <a:xfrm>
            <a:off x="679990" y="1812836"/>
            <a:ext cx="6350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SDB</a:t>
            </a:r>
            <a:r>
              <a:rPr lang="zh-CN" altLang="en-US" dirty="0"/>
              <a:t>：查看 用户 </a:t>
            </a:r>
            <a:r>
              <a:rPr lang="en-US" altLang="zh-CN" dirty="0"/>
              <a:t>APP</a:t>
            </a:r>
            <a:r>
              <a:rPr lang="zh-CN" altLang="en-US" dirty="0"/>
              <a:t>程序运行</a:t>
            </a:r>
            <a:endParaRPr lang="en-US" altLang="zh-CN" dirty="0"/>
          </a:p>
          <a:p>
            <a:r>
              <a:rPr lang="en-US" altLang="zh-CN" dirty="0" err="1"/>
              <a:t>Dtrace</a:t>
            </a:r>
            <a:r>
              <a:rPr lang="zh-CN" altLang="en-US" dirty="0"/>
              <a:t>：查看 </a:t>
            </a:r>
            <a:r>
              <a:rPr lang="en-US" altLang="zh-CN" dirty="0"/>
              <a:t>APP </a:t>
            </a:r>
            <a:r>
              <a:rPr lang="zh-CN" altLang="en-US" dirty="0"/>
              <a:t>对 </a:t>
            </a:r>
            <a:r>
              <a:rPr lang="en-US" altLang="zh-CN" dirty="0"/>
              <a:t>device </a:t>
            </a:r>
            <a:r>
              <a:rPr lang="zh-CN" altLang="en-US" dirty="0"/>
              <a:t>的访问</a:t>
            </a:r>
            <a:endParaRPr lang="en-US" altLang="zh-CN" dirty="0"/>
          </a:p>
          <a:p>
            <a:r>
              <a:rPr lang="en-US" altLang="zh-CN" dirty="0"/>
              <a:t>GDB</a:t>
            </a:r>
            <a:r>
              <a:rPr lang="zh-CN" altLang="en-US" dirty="0"/>
              <a:t>：查看 按键输入后，</a:t>
            </a:r>
            <a:r>
              <a:rPr lang="en-US" altLang="zh-CN" dirty="0"/>
              <a:t>NEMU keyboard</a:t>
            </a:r>
            <a:r>
              <a:rPr lang="zh-CN" altLang="en-US" dirty="0"/>
              <a:t>硬件行为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77719E-68A5-67D2-F577-D0F3E263D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57" y="4906328"/>
            <a:ext cx="5114925" cy="8953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1E266AC-EF5F-5AE3-E14C-ED9858F8AF7C}"/>
              </a:ext>
            </a:extLst>
          </p:cNvPr>
          <p:cNvSpPr txBox="1"/>
          <p:nvPr/>
        </p:nvSpPr>
        <p:spPr>
          <a:xfrm>
            <a:off x="645140" y="3890665"/>
            <a:ext cx="6350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NPC</a:t>
            </a:r>
            <a:r>
              <a:rPr lang="zh-CN" altLang="en-US" dirty="0"/>
              <a:t>测试时无法读取键盘输入：</a:t>
            </a:r>
            <a:endParaRPr lang="en-US" altLang="zh-CN" dirty="0"/>
          </a:p>
          <a:p>
            <a:r>
              <a:rPr lang="en-US" altLang="zh-CN" dirty="0"/>
              <a:t>   NPC</a:t>
            </a:r>
            <a:r>
              <a:rPr lang="zh-CN" altLang="en-US" dirty="0"/>
              <a:t>组合逻辑调用 </a:t>
            </a:r>
            <a:r>
              <a:rPr lang="en-US" altLang="zh-CN" dirty="0" err="1"/>
              <a:t>dpi_read</a:t>
            </a:r>
            <a:r>
              <a:rPr lang="zh-CN" altLang="en-US" dirty="0"/>
              <a:t>，会导致在一个周期内多次读取键盘，从而导致数据覆盖，一直为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260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/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/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/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/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/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YSYX </a:t>
            </a:r>
            <a:r>
              <a:rPr lang="zh-CN" altLang="en-US" dirty="0"/>
              <a:t>项目架构图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/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/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/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FFD39F-5142-80E4-7079-6F73A61F1B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62" y="1038571"/>
            <a:ext cx="9244076" cy="5683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6688-7852-7F62-B434-1ACAAA04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00AB1F9-C506-95D0-A2AE-95C31314046C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2BC411F-648D-A956-88CD-3379174C6280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404C34C-1C4A-1706-F20F-C016AED7752A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E5A433A-3A8E-2539-2ADF-D364A7609896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D38D3D1F-97DB-6A1C-65BB-BE54E3F8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NPC </a:t>
            </a:r>
            <a:r>
              <a:rPr lang="zh-CN" altLang="en-US" dirty="0"/>
              <a:t>微架构图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39DD6CD-1BCC-8B84-62B2-DCB41286A4F0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B96DAC9-21EF-7B99-97AC-F85CC740CE7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7A7968E-DEB2-D6D6-B3CF-8C2729F8F6A9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40D46907-F238-160E-D102-2BC4161BE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3CFF3B5-8A9B-F74A-071E-CA7CEC550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48" y="1165254"/>
            <a:ext cx="7397307" cy="564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0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48C1-272C-344F-BB83-8F2FA5E1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271625F-0F53-2904-57CE-07AA07E09267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4A6A9DE-08CD-ED13-6456-FACC6167A240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A5BE6DA-8952-8F76-7556-E59B281F194D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FB58B97-3C59-A0AD-F4C7-A4522F48C761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BEFF17B5-6426-2CD4-5073-46D5DCC3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NPC </a:t>
            </a:r>
            <a:r>
              <a:rPr lang="zh-CN" altLang="en-US" dirty="0"/>
              <a:t>微架构图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54DE7FE-DDE0-7F29-492D-00892301B5ED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E04046A-65D7-50E6-FD76-A32FBDA23728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E980A2A-1781-A433-1108-19AE2353A0AC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A3981899-B2C2-D3B5-4D5E-0338BB9B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35976D-159E-5D24-F78B-2D667912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85" y="1565140"/>
            <a:ext cx="11827229" cy="50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4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9F15-D473-8D06-53E5-CEAA4BCA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D21A8B9-9B44-AD65-FD7D-0CCFF1720367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0DC4EB7-F97F-504D-9960-39E13FCABB65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4968DA2-DD0C-7122-C65E-FD5490BB078D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064B616-A260-D63B-DC26-A4B0FACDF0FF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7D110441-4DEF-7454-1836-8BEF5DD8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NPC </a:t>
            </a:r>
            <a:r>
              <a:rPr lang="zh-CN" altLang="en-US" dirty="0"/>
              <a:t>微架构图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FB1F885-8B2D-B732-DC0C-A9F8EBA3C723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F4DEC5D-F85C-1F63-F821-EE156ECA7742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FCEA3B3-4A61-3BF4-05E2-CCA9E35F2A65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56DF6A67-916A-18CA-ED72-1B5717DA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41C8A0-7324-A430-472A-FD5662C66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52970"/>
            <a:ext cx="11369039" cy="413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3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0058-36B3-D0CC-328E-E34F54F83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7F74463-8449-BC47-CD4E-6DEE1D33458B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82EB1E8-B2FB-B2A2-5F1C-967F39E09647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AEF5167-518D-14AE-F226-ECF504958A70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2047F36-E62A-1822-B4DF-B5CEFB07209B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673B89FA-E2D6-1E7C-8861-56C4880BD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Makefile </a:t>
            </a:r>
            <a:r>
              <a:rPr lang="zh-CN" altLang="en-US" dirty="0"/>
              <a:t>调用时序图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E946AE02-0161-1CD2-5A38-A9EFCD2ED3C2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FEFE6D8-9479-2AB1-1167-1F63C0FCF98B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2C95777-CF6A-B101-6E67-ECE8F9154ED1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EE51B99B-1612-4A89-6272-C4FFA78B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4" name="标题 2">
            <a:extLst>
              <a:ext uri="{FF2B5EF4-FFF2-40B4-BE49-F238E27FC236}">
                <a16:creationId xmlns:a16="http://schemas.microsoft.com/office/drawing/2014/main" id="{5D652EEF-2C7C-1E18-E3CC-4534E4731720}"/>
              </a:ext>
            </a:extLst>
          </p:cNvPr>
          <p:cNvSpPr txBox="1">
            <a:spLocks/>
          </p:cNvSpPr>
          <p:nvPr/>
        </p:nvSpPr>
        <p:spPr>
          <a:xfrm>
            <a:off x="442913" y="1624965"/>
            <a:ext cx="610012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am-kernels/test/</a:t>
            </a:r>
            <a:r>
              <a:rPr lang="en-US" dirty="0" err="1">
                <a:solidFill>
                  <a:schemeClr val="tx1"/>
                </a:solidFill>
              </a:rPr>
              <a:t>cpu</a:t>
            </a:r>
            <a:r>
              <a:rPr lang="en-US" dirty="0">
                <a:solidFill>
                  <a:schemeClr val="tx1"/>
                </a:solidFill>
              </a:rPr>
              <a:t>-test</a:t>
            </a: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6883561C-8A7A-C4C3-9D29-F404E2A6DF67}"/>
              </a:ext>
            </a:extLst>
          </p:cNvPr>
          <p:cNvSpPr txBox="1">
            <a:spLocks/>
          </p:cNvSpPr>
          <p:nvPr/>
        </p:nvSpPr>
        <p:spPr>
          <a:xfrm>
            <a:off x="442913" y="2246496"/>
            <a:ext cx="11169968" cy="1965529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b="0" dirty="0" err="1">
                <a:solidFill>
                  <a:schemeClr val="tx1"/>
                </a:solidFill>
              </a:rPr>
              <a:t>Makefile</a:t>
            </a:r>
            <a:r>
              <a:rPr lang="zh-CN" altLang="en-US" b="0" dirty="0">
                <a:solidFill>
                  <a:schemeClr val="tx1"/>
                </a:solidFill>
              </a:rPr>
              <a:t>：</a:t>
            </a:r>
            <a:br>
              <a:rPr lang="en-US" altLang="zh-CN" b="0" dirty="0">
                <a:solidFill>
                  <a:schemeClr val="tx1"/>
                </a:solidFill>
              </a:rPr>
            </a:br>
            <a:r>
              <a:rPr lang="en-US" altLang="zh-CN" b="0" dirty="0">
                <a:solidFill>
                  <a:schemeClr val="tx1"/>
                </a:solidFill>
              </a:rPr>
              <a:t>   NAME = </a:t>
            </a:r>
            <a:r>
              <a:rPr lang="en-US" altLang="zh-CN" b="0" dirty="0" err="1">
                <a:solidFill>
                  <a:schemeClr val="tx1"/>
                </a:solidFill>
              </a:rPr>
              <a:t>coremark</a:t>
            </a:r>
            <a:endParaRPr lang="en-US" altLang="zh-CN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b="0" dirty="0">
                <a:solidFill>
                  <a:schemeClr val="tx1"/>
                </a:solidFill>
              </a:rPr>
              <a:t>   SRCS = $(shell find </a:t>
            </a:r>
            <a:r>
              <a:rPr lang="en-US" altLang="zh-CN" b="0" dirty="0" err="1">
                <a:solidFill>
                  <a:schemeClr val="tx1"/>
                </a:solidFill>
              </a:rPr>
              <a:t>src</a:t>
            </a:r>
            <a:r>
              <a:rPr lang="en-US" altLang="zh-CN" b="0" dirty="0">
                <a:solidFill>
                  <a:schemeClr val="tx1"/>
                </a:solidFill>
              </a:rPr>
              <a:t>/ -name "*.c")</a:t>
            </a:r>
          </a:p>
          <a:p>
            <a:pPr>
              <a:spcAft>
                <a:spcPts val="600"/>
              </a:spcAft>
            </a:pPr>
            <a:r>
              <a:rPr lang="en-US" altLang="zh-CN" b="0" dirty="0">
                <a:solidFill>
                  <a:schemeClr val="tx1"/>
                </a:solidFill>
              </a:rPr>
              <a:t>   include $(AM_HOME)/</a:t>
            </a:r>
            <a:r>
              <a:rPr lang="en-US" altLang="zh-CN" b="0" dirty="0" err="1">
                <a:solidFill>
                  <a:schemeClr val="tx1"/>
                </a:solidFill>
              </a:rPr>
              <a:t>Makefile</a:t>
            </a:r>
            <a:endParaRPr lang="en-US" altLang="zh-CN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825391-B37D-DC63-62C8-DB588A2CD07D}"/>
              </a:ext>
            </a:extLst>
          </p:cNvPr>
          <p:cNvSpPr txBox="1">
            <a:spLocks/>
          </p:cNvSpPr>
          <p:nvPr/>
        </p:nvSpPr>
        <p:spPr>
          <a:xfrm>
            <a:off x="442913" y="4543371"/>
            <a:ext cx="11169968" cy="1556186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b="0" dirty="0" err="1">
                <a:solidFill>
                  <a:schemeClr val="tx1"/>
                </a:solidFill>
              </a:rPr>
              <a:t>Makefile</a:t>
            </a:r>
            <a:r>
              <a:rPr lang="zh-CN" altLang="en-US" b="0" dirty="0">
                <a:solidFill>
                  <a:schemeClr val="tx1"/>
                </a:solidFill>
              </a:rPr>
              <a:t>：</a:t>
            </a:r>
            <a:br>
              <a:rPr lang="en-US" altLang="zh-CN" b="0" dirty="0">
                <a:solidFill>
                  <a:schemeClr val="tx1"/>
                </a:solidFill>
              </a:rPr>
            </a:br>
            <a:r>
              <a:rPr lang="en-US" altLang="zh-CN" b="0" dirty="0">
                <a:solidFill>
                  <a:schemeClr val="tx1"/>
                </a:solidFill>
              </a:rPr>
              <a:t>    1. </a:t>
            </a:r>
            <a:r>
              <a:rPr lang="zh-CN" altLang="en-US" b="0" dirty="0">
                <a:solidFill>
                  <a:schemeClr val="tx1"/>
                </a:solidFill>
              </a:rPr>
              <a:t>告诉</a:t>
            </a:r>
            <a:r>
              <a:rPr lang="en-US" altLang="zh-CN" b="0" dirty="0">
                <a:solidFill>
                  <a:schemeClr val="tx1"/>
                </a:solidFill>
              </a:rPr>
              <a:t>AM</a:t>
            </a:r>
            <a:r>
              <a:rPr lang="zh-CN" altLang="en-US" b="0" dirty="0">
                <a:solidFill>
                  <a:schemeClr val="tx1"/>
                </a:solidFill>
              </a:rPr>
              <a:t>：项目名字</a:t>
            </a:r>
            <a:endParaRPr lang="en-US" altLang="zh-CN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b="0" dirty="0">
                <a:solidFill>
                  <a:schemeClr val="tx1"/>
                </a:solidFill>
              </a:rPr>
              <a:t>    2. </a:t>
            </a:r>
            <a:r>
              <a:rPr lang="zh-CN" altLang="en-US" b="0" dirty="0">
                <a:solidFill>
                  <a:schemeClr val="tx1"/>
                </a:solidFill>
              </a:rPr>
              <a:t>告诉</a:t>
            </a:r>
            <a:r>
              <a:rPr lang="en-US" altLang="zh-CN" b="0" dirty="0">
                <a:solidFill>
                  <a:schemeClr val="tx1"/>
                </a:solidFill>
              </a:rPr>
              <a:t>AM</a:t>
            </a:r>
            <a:r>
              <a:rPr lang="zh-CN" altLang="en-US" b="0" dirty="0">
                <a:solidFill>
                  <a:schemeClr val="tx1"/>
                </a:solidFill>
              </a:rPr>
              <a:t>：有哪些用户源码</a:t>
            </a:r>
            <a:endParaRPr lang="en-US" altLang="zh-CN" b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b="0" dirty="0">
                <a:solidFill>
                  <a:schemeClr val="tx1"/>
                </a:solidFill>
              </a:rPr>
              <a:t>    3. </a:t>
            </a:r>
            <a:r>
              <a:rPr lang="zh-CN" altLang="en-US" b="0" dirty="0">
                <a:solidFill>
                  <a:schemeClr val="tx1"/>
                </a:solidFill>
              </a:rPr>
              <a:t>调用 </a:t>
            </a:r>
            <a:r>
              <a:rPr lang="en-US" altLang="zh-CN" b="0" dirty="0">
                <a:solidFill>
                  <a:schemeClr val="tx1"/>
                </a:solidFill>
              </a:rPr>
              <a:t>abstract-machine </a:t>
            </a:r>
            <a:r>
              <a:rPr lang="zh-CN" altLang="en-US" b="0" dirty="0">
                <a:solidFill>
                  <a:schemeClr val="tx1"/>
                </a:solidFill>
              </a:rPr>
              <a:t>编译</a:t>
            </a:r>
            <a:r>
              <a:rPr lang="en-US" altLang="zh-CN" b="0" dirty="0">
                <a:solidFill>
                  <a:schemeClr val="tx1"/>
                </a:solidFill>
              </a:rPr>
              <a:t>APP</a:t>
            </a:r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273A52-DC91-17D3-6FBB-C443FFFAA19D}"/>
              </a:ext>
            </a:extLst>
          </p:cNvPr>
          <p:cNvCxnSpPr>
            <a:cxnSpLocks/>
          </p:cNvCxnSpPr>
          <p:nvPr/>
        </p:nvCxnSpPr>
        <p:spPr>
          <a:xfrm>
            <a:off x="2823886" y="3994635"/>
            <a:ext cx="0" cy="4324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90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AED0-9ABC-FACE-3535-59296ACF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DD149D0-15F7-0158-71CD-C856BC9B279A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0B57E87-2C89-A05E-ADCD-9B99EAAF9AC9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E335CA0-8B0C-606A-BE31-C0E0DF30021B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477F507-06CB-FD74-A7EB-45E90E229C26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FCB583D6-75D8-43FE-07BD-97EF3C97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Makefile </a:t>
            </a:r>
            <a:r>
              <a:rPr lang="zh-CN" altLang="en-US" dirty="0"/>
              <a:t>调用时序图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B351178-7861-F557-1086-2A8509A2AE69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5703BB4-1A17-5F1A-8D93-F99F08885B96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7567009-0FB8-4989-2AA1-8C38ED1AFEF0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F7783200-BF20-9165-2F73-093DC945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B1A74C6-5D1F-0EA7-9DE0-77E85F2507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56" y="1856698"/>
            <a:ext cx="11561108" cy="4650782"/>
          </a:xfrm>
          <a:prstGeom prst="rect">
            <a:avLst/>
          </a:prstGeom>
        </p:spPr>
      </p:pic>
      <p:sp>
        <p:nvSpPr>
          <p:cNvPr id="8" name="标题 2">
            <a:extLst>
              <a:ext uri="{FF2B5EF4-FFF2-40B4-BE49-F238E27FC236}">
                <a16:creationId xmlns:a16="http://schemas.microsoft.com/office/drawing/2014/main" id="{5542E5A9-6056-7C30-10D7-6E40959E5DA1}"/>
              </a:ext>
            </a:extLst>
          </p:cNvPr>
          <p:cNvSpPr txBox="1">
            <a:spLocks/>
          </p:cNvSpPr>
          <p:nvPr/>
        </p:nvSpPr>
        <p:spPr>
          <a:xfrm>
            <a:off x="443230" y="1451596"/>
            <a:ext cx="702468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am-kernels/test/</a:t>
            </a:r>
            <a:r>
              <a:rPr lang="en-US" altLang="zh-CN" dirty="0" err="1">
                <a:solidFill>
                  <a:schemeClr val="tx1"/>
                </a:solidFill>
              </a:rPr>
              <a:t>cpu</a:t>
            </a:r>
            <a:r>
              <a:rPr lang="en-US" altLang="zh-CN" dirty="0">
                <a:solidFill>
                  <a:schemeClr val="tx1"/>
                </a:solidFill>
              </a:rPr>
              <a:t>-test</a:t>
            </a:r>
          </a:p>
        </p:txBody>
      </p:sp>
    </p:spTree>
    <p:extLst>
      <p:ext uri="{BB962C8B-B14F-4D97-AF65-F5344CB8AC3E}">
        <p14:creationId xmlns:p14="http://schemas.microsoft.com/office/powerpoint/2010/main" val="426857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FF33-0918-1461-86C7-03558FF3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C67A9BA9-E449-BEA7-0286-60A268D896A9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3579CE4-0592-CF16-A1DA-52BE87B9EF92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3BADB3E-28F3-9393-0952-97D17972CD71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E5BDC83-8636-22C5-BDDE-AE006C110254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834DF875-C121-08B4-E355-76E818F9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Makefile </a:t>
            </a:r>
            <a:r>
              <a:rPr lang="zh-CN" altLang="en-US" dirty="0"/>
              <a:t>调用时序图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E9996B0-6A6B-DD06-5277-BBB3118F52D0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BF461902-2D6E-A1DC-B512-372DBBCABF95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AC7DFCD7-EBBC-A791-0014-E66A0A8D8713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8AEC9A1D-8C0B-6F57-56F4-D08558F9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4" name="标题 2">
            <a:extLst>
              <a:ext uri="{FF2B5EF4-FFF2-40B4-BE49-F238E27FC236}">
                <a16:creationId xmlns:a16="http://schemas.microsoft.com/office/drawing/2014/main" id="{DB41F6E9-E668-63FC-0A1D-97FA77030D23}"/>
              </a:ext>
            </a:extLst>
          </p:cNvPr>
          <p:cNvSpPr txBox="1">
            <a:spLocks/>
          </p:cNvSpPr>
          <p:nvPr/>
        </p:nvSpPr>
        <p:spPr>
          <a:xfrm>
            <a:off x="443230" y="1451596"/>
            <a:ext cx="702468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abstract-machine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AA9345-44BF-0F45-FEFB-96B899708C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05" y="1856698"/>
            <a:ext cx="10978590" cy="486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9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4244-3F93-D65A-0C4C-E9BC08BB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E47A6E4-FC70-854E-C352-AE5F9D548C48}"/>
              </a:ext>
            </a:extLst>
          </p:cNvPr>
          <p:cNvSpPr/>
          <p:nvPr/>
        </p:nvSpPr>
        <p:spPr>
          <a:xfrm>
            <a:off x="0" y="-1"/>
            <a:ext cx="12192000" cy="71963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ClrTx/>
              <a:buSzTx/>
              <a:buFontTx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    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功能演示</a:t>
            </a:r>
            <a:r>
              <a:rPr lang="en-US" altLang="zh-CN" sz="2000" kern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</a:rPr>
              <a:t>  </a:t>
            </a:r>
          </a:p>
        </p:txBody>
      </p:sp>
      <p:sp>
        <p:nvSpPr>
          <p:cNvPr id="104871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63EC8E8-16F0-EB6A-EC2D-AAED516340A9}"/>
              </a:ext>
            </a:extLst>
          </p:cNvPr>
          <p:cNvSpPr txBox="1"/>
          <p:nvPr userDrawn="1"/>
        </p:nvSpPr>
        <p:spPr>
          <a:xfrm>
            <a:off x="1257300" y="43180"/>
            <a:ext cx="1682750" cy="63309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4872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EA59A56-E3AC-1A49-A3B1-6B313F5C2473}"/>
              </a:ext>
            </a:extLst>
          </p:cNvPr>
          <p:cNvSpPr txBox="1"/>
          <p:nvPr userDrawn="1"/>
        </p:nvSpPr>
        <p:spPr>
          <a:xfrm>
            <a:off x="7333795" y="43234"/>
            <a:ext cx="2428880" cy="633163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考核题目讲解</a:t>
            </a:r>
          </a:p>
        </p:txBody>
      </p:sp>
      <p:cxnSp>
        <p:nvCxnSpPr>
          <p:cNvPr id="314576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897EB11-9E1B-7180-2CE8-F4C0E118F666}"/>
              </a:ext>
            </a:extLst>
          </p:cNvPr>
          <p:cNvCxnSpPr/>
          <p:nvPr userDrawn="1"/>
        </p:nvCxnSpPr>
        <p:spPr>
          <a:xfrm>
            <a:off x="7551599" y="135519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标题 2">
            <a:extLst>
              <a:ext uri="{FF2B5EF4-FFF2-40B4-BE49-F238E27FC236}">
                <a16:creationId xmlns:a16="http://schemas.microsoft.com/office/drawing/2014/main" id="{4D9B9ADE-7FE5-CBDC-C4F9-B3763DE6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873125"/>
            <a:ext cx="5554980" cy="405102"/>
          </a:xfrm>
        </p:spPr>
        <p:txBody>
          <a:bodyPr wrap="square"/>
          <a:lstStyle/>
          <a:p>
            <a:r>
              <a:rPr lang="en-US" altLang="zh-CN" dirty="0"/>
              <a:t>Makefile </a:t>
            </a:r>
            <a:r>
              <a:rPr lang="zh-CN" altLang="en-US" dirty="0"/>
              <a:t>调用时序图</a:t>
            </a:r>
            <a:endParaRPr dirty="0"/>
          </a:p>
        </p:txBody>
      </p:sp>
      <p:cxnSp>
        <p:nvCxnSpPr>
          <p:cNvPr id="314576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384B907-C785-2650-3274-B9ED34B22133}"/>
              </a:ext>
            </a:extLst>
          </p:cNvPr>
          <p:cNvCxnSpPr/>
          <p:nvPr userDrawn="1"/>
        </p:nvCxnSpPr>
        <p:spPr>
          <a:xfrm>
            <a:off x="9762669" y="136154"/>
            <a:ext cx="0" cy="448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64586DD-D244-3763-4959-77296DA247AD}"/>
              </a:ext>
            </a:extLst>
          </p:cNvPr>
          <p:cNvSpPr txBox="1"/>
          <p:nvPr userDrawn="1"/>
        </p:nvSpPr>
        <p:spPr>
          <a:xfrm>
            <a:off x="9685655" y="88900"/>
            <a:ext cx="2184400" cy="541655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buClrTx/>
              <a:buSzTx/>
              <a:buFontTx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细节讲解</a:t>
            </a:r>
          </a:p>
        </p:txBody>
      </p:sp>
      <p:cxnSp>
        <p:nvCxnSpPr>
          <p:cNvPr id="314576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5101AC8-3FBF-A12D-415C-56CBC4B2EC79}"/>
              </a:ext>
            </a:extLst>
          </p:cNvPr>
          <p:cNvCxnSpPr/>
          <p:nvPr/>
        </p:nvCxnSpPr>
        <p:spPr>
          <a:xfrm>
            <a:off x="481890" y="1341620"/>
            <a:ext cx="276348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图片 3">
            <a:extLst>
              <a:ext uri="{FF2B5EF4-FFF2-40B4-BE49-F238E27FC236}">
                <a16:creationId xmlns:a16="http://schemas.microsoft.com/office/drawing/2014/main" id="{3B232552-8FB8-807E-66DD-D81904B76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510" cy="720090"/>
          </a:xfrm>
          <a:prstGeom prst="rect">
            <a:avLst/>
          </a:prstGeom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696EAD6F-8B45-463D-CB27-03C10A578C8F}"/>
              </a:ext>
            </a:extLst>
          </p:cNvPr>
          <p:cNvSpPr txBox="1">
            <a:spLocks/>
          </p:cNvSpPr>
          <p:nvPr/>
        </p:nvSpPr>
        <p:spPr>
          <a:xfrm>
            <a:off x="443230" y="1451596"/>
            <a:ext cx="702468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zh-CN" dirty="0" err="1">
                <a:solidFill>
                  <a:schemeClr val="tx1"/>
                </a:solidFill>
              </a:rPr>
              <a:t>memu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4E091C-3904-35C5-5A1D-E8CADEA5E2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803" y="1451596"/>
            <a:ext cx="8920394" cy="52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</a:p>
        </p:txBody>
      </p:sp>
      <p:sp>
        <p:nvSpPr>
          <p:cNvPr id="1048607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08" name="powerpoint template design by DAJU_PPT正版来源小红书大橘PPT微信DAJU_PPT请勿抄袭搬运！盗版必究！"/>
          <p:cNvSpPr/>
          <p:nvPr/>
        </p:nvSpPr>
        <p:spPr>
          <a:xfrm>
            <a:off x="-4191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6840" y="2985135"/>
            <a:ext cx="67951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华文中宋" panose="02010600040101010101" charset="-122"/>
                <a:ea typeface="华文中宋" panose="02010600040101010101" charset="-122"/>
              </a:rPr>
              <a:t>恳请各位助教老师批评指正！</a:t>
            </a:r>
          </a:p>
        </p:txBody>
      </p:sp>
      <p:pic>
        <p:nvPicPr>
          <p:cNvPr id="209715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" y="312420"/>
            <a:ext cx="2211705" cy="204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2E66"/>
      </a:accent1>
      <a:accent2>
        <a:srgbClr val="D0B296"/>
      </a:accent2>
      <a:accent3>
        <a:srgbClr val="122E66"/>
      </a:accent3>
      <a:accent4>
        <a:srgbClr val="D0B296"/>
      </a:accent4>
      <a:accent5>
        <a:srgbClr val="122E66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594</Words>
  <Application>Microsoft Office PowerPoint</Application>
  <PresentationFormat>宽屏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华文中宋</vt:lpstr>
      <vt:lpstr>微软雅黑</vt:lpstr>
      <vt:lpstr>Arial</vt:lpstr>
      <vt:lpstr>Calibri</vt:lpstr>
      <vt:lpstr>Office Theme</vt:lpstr>
      <vt:lpstr>PowerPoint 演示文稿</vt:lpstr>
      <vt:lpstr>NEMU &amp; NPC</vt:lpstr>
      <vt:lpstr>NEMU &amp; NPC</vt:lpstr>
      <vt:lpstr>Typing-Game</vt:lpstr>
      <vt:lpstr>Typing-Game</vt:lpstr>
      <vt:lpstr>YSYX 项目架构图</vt:lpstr>
      <vt:lpstr>NPC 微架构图</vt:lpstr>
      <vt:lpstr>NPC 微架构图</vt:lpstr>
      <vt:lpstr>NPC 微架构图</vt:lpstr>
      <vt:lpstr>Makefile 调用时序图</vt:lpstr>
      <vt:lpstr>Makefile 调用时序图</vt:lpstr>
      <vt:lpstr>Makefile 调用时序图</vt:lpstr>
      <vt:lpstr>Makefile 调用时序图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Moon Grt</cp:lastModifiedBy>
  <cp:revision>318</cp:revision>
  <dcterms:created xsi:type="dcterms:W3CDTF">2024-07-21T02:26:42Z</dcterms:created>
  <dcterms:modified xsi:type="dcterms:W3CDTF">2026-03-21T12:12:05Z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